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66928"/>
            <a:ext cx="1965960" cy="384048"/>
          </a:xfrm>
          <a:prstGeom prst="roundRect">
            <a:avLst/>
          </a:prstGeom>
          <a:solidFill>
            <a:srgbClr val="D5F2EA"/>
          </a:solidFill>
          <a:ln w="12700">
            <a:solidFill>
              <a:srgbClr val="D5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640080"/>
            <a:ext cx="1746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B3B39"/>
                </a:solidFill>
                <a:latin typeface="Aptos"/>
              </a:rPr>
              <a:t>COMMENT RESPONSE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400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Permit
Precedents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200400"/>
            <a:ext cx="6126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6EAE6"/>
                </a:solidFill>
                <a:latin typeface="Aptos"/>
              </a:rPr>
              <a:t>Find prior review history. Understand what happened. Verify the original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9618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Coworker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713232"/>
            <a:ext cx="416052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115568"/>
            <a:ext cx="3383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62426"/>
                </a:solidFill>
                <a:latin typeface="Aptos"/>
              </a:rPr>
              <a:t>A faster path from a question to evidence</a:t>
            </a:r>
          </a:p>
        </p:txBody>
      </p:sp>
      <p:sp>
        <p:nvSpPr>
          <p:cNvPr id="10" name="Oval 9"/>
          <p:cNvSpPr/>
          <p:nvPr/>
        </p:nvSpPr>
        <p:spPr>
          <a:xfrm>
            <a:off x="7744968" y="1965960"/>
            <a:ext cx="475488" cy="475488"/>
          </a:xfrm>
          <a:prstGeom prst="ellipse">
            <a:avLst/>
          </a:prstGeom>
          <a:solidFill>
            <a:srgbClr val="E7F5F2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44968" y="2075688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426"/>
                </a:solidFill>
                <a:latin typeface="Aptos"/>
              </a:rPr>
              <a:t>Choose a 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249424"/>
            <a:ext cx="2578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B6D"/>
                </a:solidFill>
                <a:latin typeface="Aptos"/>
              </a:rPr>
              <a:t>Keep the search relevant to the jurisdiction.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744968" y="2907791"/>
            <a:ext cx="475488" cy="475488"/>
          </a:xfrm>
          <a:prstGeom prst="ellipse">
            <a:avLst/>
          </a:prstGeom>
          <a:solidFill>
            <a:srgbClr val="E7F5F2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8" y="3017520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89864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426"/>
                </a:solidFill>
                <a:latin typeface="Aptos"/>
              </a:rPr>
              <a:t>Ask a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191256"/>
            <a:ext cx="2578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B6D"/>
                </a:solidFill>
                <a:latin typeface="Aptos"/>
              </a:rPr>
              <a:t>Use normal work language.</a:t>
            </a:r>
          </a:p>
        </p:txBody>
      </p:sp>
      <p:sp>
        <p:nvSpPr>
          <p:cNvPr id="18" name="Oval 17"/>
          <p:cNvSpPr/>
          <p:nvPr/>
        </p:nvSpPr>
        <p:spPr>
          <a:xfrm>
            <a:off x="7744968" y="3849624"/>
            <a:ext cx="475488" cy="475488"/>
          </a:xfrm>
          <a:prstGeom prst="ellipse">
            <a:avLst/>
          </a:prstGeom>
          <a:solidFill>
            <a:srgbClr val="E7F5F2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3959352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840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426"/>
                </a:solidFill>
                <a:latin typeface="Aptos"/>
              </a:rPr>
              <a:t>Review the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4133087"/>
            <a:ext cx="2578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B6D"/>
                </a:solidFill>
                <a:latin typeface="Aptos"/>
              </a:rPr>
              <a:t>See comments, responses, and recurring issues.</a:t>
            </a:r>
          </a:p>
        </p:txBody>
      </p:sp>
      <p:sp>
        <p:nvSpPr>
          <p:cNvPr id="22" name="Oval 21"/>
          <p:cNvSpPr/>
          <p:nvPr/>
        </p:nvSpPr>
        <p:spPr>
          <a:xfrm>
            <a:off x="7744968" y="4791456"/>
            <a:ext cx="475488" cy="475488"/>
          </a:xfrm>
          <a:prstGeom prst="ellipse">
            <a:avLst/>
          </a:prstGeom>
          <a:solidFill>
            <a:srgbClr val="E7F5F2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4968" y="4901184"/>
            <a:ext cx="4754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78231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2426"/>
                </a:solidFill>
                <a:latin typeface="Aptos"/>
              </a:rPr>
              <a:t>Open the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5074920"/>
            <a:ext cx="25786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E6B6D"/>
                </a:solidFill>
                <a:latin typeface="Aptos"/>
              </a:rPr>
              <a:t>Verify the exact page, paragraph, or cell.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F59"/>
                </a:solidFill>
                <a:latin typeface="Aptos"/>
              </a:rPr>
              <a:t>WHY IT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2426"/>
                </a:solidFill>
                <a:latin typeface="Aptos"/>
              </a:rPr>
              <a:t>Permit history is valuable—but difficult to reuse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E6B6D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B6D"/>
                </a:solidFill>
                <a:latin typeface="Aptos"/>
              </a:rPr>
              <a:t>Permit Precedents · Coworker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29968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2340864"/>
            <a:ext cx="585216" cy="585216"/>
          </a:xfrm>
          <a:prstGeom prst="ellipse">
            <a:avLst/>
          </a:prstGeom>
          <a:solidFill>
            <a:srgbClr val="E7F5F2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585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27248"/>
            <a:ext cx="2788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426"/>
                </a:solidFill>
                <a:latin typeface="Aptos"/>
              </a:rPr>
              <a:t>Scattered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30752"/>
            <a:ext cx="27889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D"/>
                </a:solidFill>
                <a:latin typeface="Aptos"/>
              </a:rPr>
              <a:t>Comments and responses live across PDFs, spreadsheets, Word files, projects, and review rounds.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2029968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45736" y="2340864"/>
            <a:ext cx="585216" cy="585216"/>
          </a:xfrm>
          <a:prstGeom prst="ellipse">
            <a:avLst/>
          </a:prstGeom>
          <a:solidFill>
            <a:srgbClr val="E7F5F2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450592"/>
            <a:ext cx="585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127248"/>
            <a:ext cx="2788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426"/>
                </a:solidFill>
                <a:latin typeface="Aptos"/>
              </a:rPr>
              <a:t>Repeated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3730752"/>
            <a:ext cx="27889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D"/>
                </a:solidFill>
                <a:latin typeface="Aptos"/>
              </a:rPr>
              <a:t>The same design issue may appear again with a new clarification or follow-up.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11896" y="2029968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04504" y="2340864"/>
            <a:ext cx="585216" cy="585216"/>
          </a:xfrm>
          <a:prstGeom prst="ellipse">
            <a:avLst/>
          </a:prstGeom>
          <a:solidFill>
            <a:srgbClr val="E7F5F2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4504" y="2450592"/>
            <a:ext cx="5852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3127248"/>
            <a:ext cx="27889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2426"/>
                </a:solidFill>
                <a:latin typeface="Aptos"/>
              </a:rPr>
              <a:t>Slow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3730752"/>
            <a:ext cx="27889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E6B6D"/>
                </a:solidFill>
                <a:latin typeface="Aptos"/>
              </a:rPr>
              <a:t>Even after finding a useful precedent, someone still needs the exact source and location.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0B3B39"/>
                </a:solidFill>
                <a:latin typeface="Aptos"/>
              </a:rPr>
              <a:t>Permit Precedents turns that history into a searchable, verifiable workspace.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F59"/>
                </a:solidFill>
                <a:latin typeface="Aptos"/>
              </a:rPr>
              <a:t>WHAT USERS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2426"/>
                </a:solidFill>
                <a:latin typeface="Aptos"/>
              </a:rPr>
              <a:t>One workspace for overview, questions, records,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E6B6D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B6D"/>
                </a:solidFill>
                <a:latin typeface="Aptos"/>
              </a:rPr>
              <a:t>Permit Precedents · Coworker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93392"/>
            <a:ext cx="5193792" cy="1572768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4942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F5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31136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62426"/>
                </a:solidFill>
                <a:latin typeface="Aptos"/>
              </a:rPr>
              <a:t>City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06624"/>
            <a:ext cx="382219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D"/>
                </a:solidFill>
                <a:latin typeface="Aptos"/>
              </a:rPr>
              <a:t>See the amount and shape of the history available for a selected 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93392"/>
            <a:ext cx="5193792" cy="1572768"/>
          </a:xfrm>
          <a:prstGeom prst="roundRect">
            <a:avLst/>
          </a:prstGeom>
          <a:solidFill>
            <a:srgbClr val="E9F8ED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249424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31136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62426"/>
                </a:solidFill>
                <a:latin typeface="Aptos"/>
              </a:rPr>
              <a:t>Knowledge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706624"/>
            <a:ext cx="382219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D"/>
                </a:solidFill>
                <a:latin typeface="Aptos"/>
              </a:rPr>
              <a:t>Ask what happened before and receive an evidence-linked historical answer.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86784"/>
            <a:ext cx="5193792" cy="1572768"/>
          </a:xfrm>
          <a:prstGeom prst="roundRect">
            <a:avLst/>
          </a:prstGeom>
          <a:solidFill>
            <a:srgbClr val="FFF6DD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24281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24528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62426"/>
                </a:solidFill>
                <a:latin typeface="Aptos"/>
              </a:rPr>
              <a:t>Historical Library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700016"/>
            <a:ext cx="382219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D"/>
                </a:solidFill>
                <a:latin typeface="Aptos"/>
              </a:rPr>
              <a:t>Search and filter comments, responses, projects, rounds, and review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86784"/>
            <a:ext cx="5193792" cy="1572768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6B4E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242816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4E9B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224528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62426"/>
                </a:solidFill>
                <a:latin typeface="Aptos"/>
              </a:rPr>
              <a:t>Issue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700016"/>
            <a:ext cx="3822191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6B6D"/>
                </a:solidFill>
                <a:latin typeface="Aptos"/>
              </a:rPr>
              <a:t>Follow one design concern through comments, responses, and reviewer follow-ups.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F59"/>
                </a:solidFill>
                <a:latin typeface="Aptos"/>
              </a:rPr>
              <a:t>ASK PERMIT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2426"/>
                </a:solidFill>
                <a:latin typeface="Aptos"/>
              </a:rPr>
              <a:t>Start broad, then move to the exact supporting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E6B6D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B6D"/>
                </a:solidFill>
                <a:latin typeface="Aptos"/>
              </a:rPr>
              <a:t>Permit Precedents · Coworker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01952"/>
            <a:ext cx="110185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212848"/>
            <a:ext cx="1417320" cy="384048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197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5F59"/>
                </a:solidFill>
                <a:latin typeface="Aptos"/>
              </a:rPr>
              <a:t>USER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2212848"/>
            <a:ext cx="6355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62426"/>
                </a:solidFill>
                <a:latin typeface="Aptos"/>
              </a:rPr>
              <a:t>How have we handled tree-related comments?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0779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65F59"/>
                </a:solidFill>
                <a:latin typeface="Aptos"/>
              </a:rPr>
              <a:t>Historical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2"/>
            <a:ext cx="98298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62426"/>
                </a:solidFill>
                <a:latin typeface="Aptos"/>
              </a:rPr>
              <a:t>Across the available projects, tree comments were generally handled through concrete plan revisions and tree-removal documentation, rather than narrative responses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233672"/>
            <a:ext cx="9829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62426"/>
                </a:solidFill>
                <a:latin typeface="Aptos"/>
              </a:rPr>
              <a:t>At 4155 Mitzi Dr, the plans and Tree Summary Data were updated to identify trees and proposed removals. </a:t>
            </a:r>
            <a:r>
              <a:rPr sz="1600" b="1">
                <a:solidFill>
                  <a:srgbClr val="065F59"/>
                </a:solidFill>
                <a:latin typeface="Aptos"/>
              </a:rPr>
              <a:t>[1][2]</a:t>
            </a:r>
            <a:r>
              <a:rPr sz="1600" b="0">
                <a:solidFill>
                  <a:srgbClr val="162426"/>
                </a:solidFill>
                <a:latin typeface="Aptos"/>
              </a:rPr>
              <a:t> At 701 S Clover Ave, tree circumferences were added to Sheet A1.01. </a:t>
            </a:r>
            <a:r>
              <a:rPr sz="1600" b="1">
                <a:solidFill>
                  <a:srgbClr val="065F59"/>
                </a:solidFill>
                <a:latin typeface="Aptos"/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394960"/>
            <a:ext cx="9052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E6B6D"/>
                </a:solidFill>
                <a:latin typeface="Aptos"/>
              </a:rPr>
              <a:t>4 relevant comments · 2 projects · 3 review rounds · 4 confirmed responses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5230368"/>
            <a:ext cx="2331720" cy="384048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33688" y="5303520"/>
            <a:ext cx="211226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5F59"/>
                </a:solidFill>
                <a:latin typeface="Aptos"/>
              </a:rPr>
              <a:t>Click a citation to inspect the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F59"/>
                </a:solidFill>
                <a:latin typeface="Aptos"/>
              </a:rPr>
              <a:t>HISTORICAL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2426"/>
                </a:solidFill>
                <a:latin typeface="Aptos"/>
              </a:rPr>
              <a:t>Browse issues directly and compare the comment with the recorded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E6B6D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B6D"/>
                </a:solidFill>
                <a:latin typeface="Aptos"/>
              </a:rPr>
              <a:t>Permit Precedents · Coworker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70332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13969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F59"/>
                </a:solidFill>
                <a:latin typeface="Aptos"/>
              </a:rPr>
              <a:t>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523744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426"/>
                </a:solidFill>
                <a:latin typeface="Aptos"/>
              </a:rPr>
              <a:t>Search and filters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3063240"/>
            <a:ext cx="3154680" cy="694944"/>
          </a:xfrm>
          <a:prstGeom prst="roundRect">
            <a:avLst/>
          </a:prstGeom>
          <a:solidFill>
            <a:srgbClr val="F7F8F6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18211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2426"/>
                </a:solidFill>
                <a:latin typeface="Aptos"/>
              </a:rPr>
              <a:t>Tree labels and removals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209544"/>
            <a:ext cx="914400" cy="384048"/>
          </a:xfrm>
          <a:prstGeom prst="roundRect">
            <a:avLst/>
          </a:prstGeom>
          <a:solidFill>
            <a:srgbClr val="E9F8ED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3282696"/>
            <a:ext cx="6949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Has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" y="3959352"/>
            <a:ext cx="3154680" cy="694944"/>
          </a:xfrm>
          <a:prstGeom prst="roundRect">
            <a:avLst/>
          </a:prstGeom>
          <a:solidFill>
            <a:srgbClr val="F7F8F6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078224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2426"/>
                </a:solidFill>
                <a:latin typeface="Aptos"/>
              </a:rPr>
              <a:t>Rated wall assembly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4105656"/>
            <a:ext cx="914400" cy="384048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4178808"/>
            <a:ext cx="6949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5F59"/>
                </a:solidFill>
                <a:latin typeface="Aptos"/>
              </a:rPr>
              <a:t>Review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" y="4855464"/>
            <a:ext cx="3154680" cy="694944"/>
          </a:xfrm>
          <a:prstGeom prst="roundRect">
            <a:avLst/>
          </a:prstGeom>
          <a:solidFill>
            <a:srgbClr val="F7F8F6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974336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2426"/>
                </a:solidFill>
                <a:latin typeface="Aptos"/>
              </a:rPr>
              <a:t>Drainage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5001768"/>
            <a:ext cx="914400" cy="384048"/>
          </a:xfrm>
          <a:prstGeom prst="roundRect">
            <a:avLst/>
          </a:prstGeom>
          <a:solidFill>
            <a:srgbClr val="FFF6DD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0088" y="5074920"/>
            <a:ext cx="6949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Aptos"/>
              </a:rPr>
              <a:t>No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3712" y="1874519"/>
            <a:ext cx="7059168" cy="1938528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21945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65F59"/>
                </a:solidFill>
                <a:latin typeface="Aptos"/>
              </a:rPr>
              <a:t>GOVERNMENT COMMENT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2633472"/>
            <a:ext cx="6126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426"/>
                </a:solidFill>
                <a:latin typeface="Aptos"/>
              </a:rPr>
              <a:t>Identify tree labels, circumferences, and proposed removals on the site plan.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3712" y="4005072"/>
            <a:ext cx="7059168" cy="2185416"/>
          </a:xfrm>
          <a:prstGeom prst="roundRect">
            <a:avLst/>
          </a:prstGeom>
          <a:solidFill>
            <a:srgbClr val="E9F8ED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2" y="431596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5803D"/>
                </a:solidFill>
                <a:latin typeface="Aptos"/>
              </a:rPr>
              <a:t>COMPANY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4736592"/>
            <a:ext cx="59893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2426"/>
                </a:solidFill>
                <a:latin typeface="Aptos"/>
              </a:rPr>
              <a:t>The Existing and Demolition Site Plan and Tree Summary Data were updated.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55480" y="5486400"/>
            <a:ext cx="1572768" cy="384048"/>
          </a:xfrm>
          <a:prstGeom prst="roundRect">
            <a:avLst/>
          </a:prstGeom>
          <a:solidFill>
            <a:srgbClr val="E9F8ED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65207" y="5559552"/>
            <a:ext cx="1353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Confirmed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F59"/>
                </a:solidFill>
                <a:latin typeface="Aptos"/>
              </a:rPr>
              <a:t>RECURRING ISSUE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2426"/>
                </a:solidFill>
                <a:latin typeface="Aptos"/>
              </a:rPr>
              <a:t>See how one specific design issue changed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E6B6D"/>
                </a:solidFill>
                <a:latin typeface="Apto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B6D"/>
                </a:solidFill>
                <a:latin typeface="Aptos"/>
              </a:rPr>
              <a:t>Permit Precedents · Coworker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993392"/>
            <a:ext cx="22860" cy="3566160"/>
          </a:xfrm>
          <a:prstGeom prst="rect">
            <a:avLst/>
          </a:prstGeom>
          <a:solidFill>
            <a:srgbClr val="D8D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2240280"/>
            <a:ext cx="329184" cy="329184"/>
          </a:xfrm>
          <a:prstGeom prst="ellipse">
            <a:avLst/>
          </a:prstGeom>
          <a:solidFill>
            <a:srgbClr val="065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5920" y="2011680"/>
            <a:ext cx="9326880" cy="804672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01952" y="2194560"/>
            <a:ext cx="1463040" cy="384048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267712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5F59"/>
                </a:solidFill>
                <a:latin typeface="Aptos"/>
              </a:rPr>
              <a:t>Government comment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194560"/>
            <a:ext cx="56692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26771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5F59"/>
                </a:solidFill>
                <a:latin typeface="Aptos"/>
              </a:rPr>
              <a:t>PC1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85416"/>
            <a:ext cx="6172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62426"/>
                </a:solidFill>
                <a:latin typeface="Aptos"/>
              </a:rPr>
              <a:t>Reviewer states the initial requirement.</a:t>
            </a:r>
          </a:p>
        </p:txBody>
      </p:sp>
      <p:sp>
        <p:nvSpPr>
          <p:cNvPr id="15" name="Oval 14"/>
          <p:cNvSpPr/>
          <p:nvPr/>
        </p:nvSpPr>
        <p:spPr>
          <a:xfrm>
            <a:off x="1078992" y="3172968"/>
            <a:ext cx="329184" cy="329184"/>
          </a:xfrm>
          <a:prstGeom prst="ellipse">
            <a:avLst/>
          </a:prstGeom>
          <a:solidFill>
            <a:srgbClr val="15803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45920" y="2944368"/>
            <a:ext cx="9326880" cy="804672"/>
          </a:xfrm>
          <a:prstGeom prst="roundRect">
            <a:avLst/>
          </a:prstGeom>
          <a:solidFill>
            <a:srgbClr val="E9F8ED"/>
          </a:solidFill>
          <a:ln w="1270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01952" y="3127248"/>
            <a:ext cx="1463040" cy="384048"/>
          </a:xfrm>
          <a:prstGeom prst="roundRect">
            <a:avLst/>
          </a:prstGeom>
          <a:solidFill>
            <a:srgbClr val="E9F8ED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200400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Applicant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127248"/>
            <a:ext cx="56692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3200400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5803D"/>
                </a:solidFill>
                <a:latin typeface="Aptos"/>
              </a:rPr>
              <a:t>PC1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118104"/>
            <a:ext cx="6172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62426"/>
                </a:solidFill>
                <a:latin typeface="Aptos"/>
              </a:rPr>
              <a:t>The project team identifies the revision or submitted material.</a:t>
            </a:r>
          </a:p>
        </p:txBody>
      </p:sp>
      <p:sp>
        <p:nvSpPr>
          <p:cNvPr id="22" name="Oval 21"/>
          <p:cNvSpPr/>
          <p:nvPr/>
        </p:nvSpPr>
        <p:spPr>
          <a:xfrm>
            <a:off x="1078992" y="4105656"/>
            <a:ext cx="329184" cy="329184"/>
          </a:xfrm>
          <a:prstGeom prst="ellipse">
            <a:avLst/>
          </a:prstGeom>
          <a:solidFill>
            <a:srgbClr val="B4530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45920" y="3877056"/>
            <a:ext cx="9326880" cy="804672"/>
          </a:xfrm>
          <a:prstGeom prst="roundRect">
            <a:avLst/>
          </a:prstGeom>
          <a:solidFill>
            <a:srgbClr val="FFF6DD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01952" y="4059936"/>
            <a:ext cx="1463040" cy="384048"/>
          </a:xfrm>
          <a:prstGeom prst="roundRect">
            <a:avLst/>
          </a:prstGeom>
          <a:solidFill>
            <a:srgbClr val="FFF6DD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133088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Aptos"/>
              </a:rPr>
              <a:t>Reviewer follow-up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059936"/>
            <a:ext cx="56692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4133088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Aptos"/>
              </a:rPr>
              <a:t>PC2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050792"/>
            <a:ext cx="6172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62426"/>
                </a:solidFill>
                <a:latin typeface="Aptos"/>
              </a:rPr>
              <a:t>The reviewer clarifies what remains unresolved.</a:t>
            </a:r>
          </a:p>
        </p:txBody>
      </p:sp>
      <p:sp>
        <p:nvSpPr>
          <p:cNvPr id="29" name="Oval 28"/>
          <p:cNvSpPr/>
          <p:nvPr/>
        </p:nvSpPr>
        <p:spPr>
          <a:xfrm>
            <a:off x="1078992" y="5038344"/>
            <a:ext cx="329184" cy="329184"/>
          </a:xfrm>
          <a:prstGeom prst="ellipse">
            <a:avLst/>
          </a:prstGeom>
          <a:solidFill>
            <a:srgbClr val="065F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645920" y="4809744"/>
            <a:ext cx="9326880" cy="804672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901952" y="4992624"/>
            <a:ext cx="1463040" cy="384048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5065776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5F59"/>
                </a:solidFill>
                <a:latin typeface="Aptos"/>
              </a:rPr>
              <a:t>Later 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20440" y="4992624"/>
            <a:ext cx="56692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0168" y="5065776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65F59"/>
                </a:solidFill>
                <a:latin typeface="Aptos"/>
              </a:rPr>
              <a:t>PC3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983480"/>
            <a:ext cx="6172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62426"/>
                </a:solidFill>
                <a:latin typeface="Aptos"/>
              </a:rPr>
              <a:t>A more specific correction is recorded and linked to its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888736"/>
            <a:ext cx="9326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0B3B39"/>
                </a:solidFill>
                <a:latin typeface="Aptos"/>
              </a:rPr>
              <a:t>Repeated appearances in different files stay attached as sources—not duplicate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F59"/>
                </a:solidFill>
                <a:latin typeface="Aptos"/>
              </a:rPr>
              <a:t>VERIFY BEFORE YOU RELY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62426"/>
                </a:solidFill>
                <a:latin typeface="Aptos"/>
              </a:rPr>
              <a:t>Every useful answer should lead back to the original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5E6B6D"/>
                </a:solidFill>
                <a:latin typeface="Aptos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6B6D"/>
                </a:solidFill>
                <a:latin typeface="Aptos"/>
              </a:rPr>
              <a:t>Permit Precedents · Coworker Demo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993392"/>
            <a:ext cx="329184" cy="329184"/>
          </a:xfrm>
          <a:prstGeom prst="ellipse">
            <a:avLst/>
          </a:prstGeom>
          <a:solidFill>
            <a:srgbClr val="D5F2EA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75104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62426"/>
                </a:solidFill>
                <a:latin typeface="Aptos"/>
              </a:rPr>
              <a:t>Open the supporting comment and response beside the AI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651760"/>
            <a:ext cx="329184" cy="329184"/>
          </a:xfrm>
          <a:prstGeom prst="ellipse">
            <a:avLst/>
          </a:prstGeom>
          <a:solidFill>
            <a:srgbClr val="D5F2EA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33472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62426"/>
                </a:solidFill>
                <a:latin typeface="Aptos"/>
              </a:rPr>
              <a:t>See all source files attached to the same historical event.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310128"/>
            <a:ext cx="329184" cy="329184"/>
          </a:xfrm>
          <a:prstGeom prst="ellipse">
            <a:avLst/>
          </a:prstGeom>
          <a:solidFill>
            <a:srgbClr val="D5F2EA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19856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62426"/>
                </a:solidFill>
                <a:latin typeface="Aptos"/>
              </a:rPr>
              <a:t>Open PDFs, spreadsheets, and Word previews inside the app.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968496"/>
            <a:ext cx="329184" cy="329184"/>
          </a:xfrm>
          <a:prstGeom prst="ellipse">
            <a:avLst/>
          </a:prstGeom>
          <a:solidFill>
            <a:srgbClr val="D5F2EA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78224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50208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62426"/>
                </a:solidFill>
                <a:latin typeface="Aptos"/>
              </a:rPr>
              <a:t>Navigate to the cited page, paragraph, sheet, cell, or range.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626864"/>
            <a:ext cx="329184" cy="329184"/>
          </a:xfrm>
          <a:prstGeom prst="ellipse">
            <a:avLst/>
          </a:prstGeom>
          <a:solidFill>
            <a:srgbClr val="D5F2EA"/>
          </a:solidFill>
          <a:ln w="1905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3291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65F59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608576"/>
            <a:ext cx="4983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62426"/>
                </a:solidFill>
                <a:latin typeface="Aptos"/>
              </a:rPr>
              <a:t>Use the explicit Download Original action only when the file itself is needed.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1874519"/>
            <a:ext cx="5029200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2864" y="21945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F59"/>
                </a:solidFill>
                <a:latin typeface="Aptos"/>
              </a:rPr>
              <a:t>SOURCE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12864" y="2660904"/>
            <a:ext cx="4325112" cy="667512"/>
          </a:xfrm>
          <a:prstGeom prst="roundRect">
            <a:avLst/>
          </a:prstGeom>
          <a:solidFill>
            <a:srgbClr val="E7F5F2"/>
          </a:solidFill>
          <a:ln w="1270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286207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2426"/>
                </a:solidFill>
                <a:latin typeface="Aptos"/>
              </a:rPr>
              <a:t>Primary source: Review Comments.xlsx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12864" y="3502152"/>
            <a:ext cx="4325112" cy="667512"/>
          </a:xfrm>
          <a:prstGeom prst="roundRect">
            <a:avLst/>
          </a:prstGeom>
          <a:solidFill>
            <a:srgbClr val="F7F8F6"/>
          </a:solidFill>
          <a:ln w="12700">
            <a:solidFill>
              <a:srgbClr val="D8D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3703320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2426"/>
                </a:solidFill>
                <a:latin typeface="Aptos"/>
              </a:rPr>
              <a:t>Also appears in: Response Letter.pdf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449884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5E6B6D"/>
                </a:solidFill>
                <a:latin typeface="Aptos"/>
              </a:rPr>
              <a:t>Cited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84632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2426"/>
                </a:solidFill>
                <a:latin typeface="Aptos"/>
              </a:rPr>
              <a:t>Review Comments · cell C6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12864" y="5394960"/>
            <a:ext cx="2057400" cy="384048"/>
          </a:xfrm>
          <a:prstGeom prst="roundRect">
            <a:avLst/>
          </a:prstGeom>
          <a:solidFill>
            <a:srgbClr val="065F59"/>
          </a:solidFill>
          <a:ln w="12700">
            <a:solidFill>
              <a:srgbClr val="065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5468112"/>
            <a:ext cx="183794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Open original 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5F2EA"/>
                </a:solidFill>
                <a:latin typeface="Aptos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61872"/>
            <a:ext cx="7955279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Spend less time searching.
Spend more time understanding.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D6EAE6"/>
                </a:solidFill>
                <a:latin typeface="Aptos"/>
              </a:rPr>
              <a:t>Choose a city → Ask a question → Review the history → Verify the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60520"/>
            <a:ext cx="10835640" cy="1188720"/>
          </a:xfrm>
          <a:prstGeom prst="roundRect">
            <a:avLst/>
          </a:prstGeom>
          <a:solidFill>
            <a:srgbClr val="104B47"/>
          </a:solidFill>
          <a:ln w="12700">
            <a:solidFill>
              <a:srgbClr val="2B6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9884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What would you want to find first?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4517136"/>
            <a:ext cx="5440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D5F2EA"/>
                </a:solidFill>
                <a:latin typeface="Aptos"/>
              </a:rPr>
              <a:t>A prior response · A recurring issue · A project precedent · A source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0807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Live app: http://localhost:8010/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08076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ptos"/>
              </a:rPr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Permit Precedents — Coworker Demo</dc:title>
  <dc:subject>User-focused demonstration of the Comment Response App</dc:subject>
  <dc:creator>Permit Precedents Team</dc:creator>
  <cp:keywords>permit history, comments, responses, evidence, demo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